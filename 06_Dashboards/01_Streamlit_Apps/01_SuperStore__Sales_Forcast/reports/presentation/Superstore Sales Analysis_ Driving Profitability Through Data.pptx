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6.png"/><Relationship Id="rId4" Type="http://schemas.openxmlformats.org/officeDocument/2006/relationships/image" Target="../media/image9.png"/><Relationship Id="rId5" Type="http://schemas.openxmlformats.org/officeDocument/2006/relationships/image" Target="../media/image10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16.png"/><Relationship Id="rId4" Type="http://schemas.openxmlformats.org/officeDocument/2006/relationships/image" Target="../media/image19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20.png"/><Relationship Id="rId4" Type="http://schemas.openxmlformats.org/officeDocument/2006/relationships/image" Target="../media/image10.png"/><Relationship Id="rId5" Type="http://schemas.openxmlformats.org/officeDocument/2006/relationships/image" Target="../media/image21.png"/><Relationship Id="rId6" Type="http://schemas.openxmlformats.org/officeDocument/2006/relationships/image" Target="../media/image22.png"/><Relationship Id="rId7" Type="http://schemas.openxmlformats.org/officeDocument/2006/relationships/image" Target="../media/image2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Relationship Id="rId3" Type="http://schemas.openxmlformats.org/officeDocument/2006/relationships/image" Target="../media/image25.png"/><Relationship Id="rId4" Type="http://schemas.openxmlformats.org/officeDocument/2006/relationships/image" Target="../media/image26.png"/><Relationship Id="rId5" Type="http://schemas.openxmlformats.org/officeDocument/2006/relationships/image" Target="../media/image27.png"/><Relationship Id="rId6" Type="http://schemas.openxmlformats.org/officeDocument/2006/relationships/image" Target="../media/image28.png"/><Relationship Id="rId7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Relationship Id="rId3" Type="http://schemas.openxmlformats.org/officeDocument/2006/relationships/image" Target="../media/image30.png"/><Relationship Id="rId4" Type="http://schemas.openxmlformats.org/officeDocument/2006/relationships/image" Target="../media/image31.png"/><Relationship Id="rId5" Type="http://schemas.openxmlformats.org/officeDocument/2006/relationships/image" Target="../media/image3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2850">
              <a:alpha val="7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676458" y="2609850"/>
            <a:ext cx="6838779" cy="7334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4940"/>
              </a:lnSpc>
              <a:spcBef>
                <a:spcPts val="0"/>
              </a:spcBef>
              <a:spcAft>
                <a:spcPts val="1300"/>
              </a:spcAft>
            </a:pPr>
            <a:r>
              <a:rPr sz="3827" b="1">
                <a:solidFill>
                  <a:srgbClr val="FFFFFF"/>
                </a:solidFill>
              </a:rPr>
              <a:t>Superstore Sales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28994" y="3524250"/>
            <a:ext cx="3733706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2600"/>
              </a:spcAft>
            </a:pPr>
            <a:r>
              <a:rPr sz="1674" b="0">
                <a:solidFill>
                  <a:srgbClr val="8ECAE6"/>
                </a:solidFill>
              </a:rPr>
              <a:t>Driving Profitability Through </a:t>
            </a:r>
            <a:r>
              <a:rPr sz="1674" b="1">
                <a:solidFill>
                  <a:srgbClr val="52B788"/>
                </a:solidFill>
              </a:rPr>
              <a:t>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76618" y="6238874"/>
            <a:ext cx="3638459" cy="2381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E0FBFC"/>
                </a:solidFill>
              </a:rPr>
              <a:t>Business Analytics Department | October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6733" y="380999"/>
            <a:ext cx="10858228" cy="4762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2392" b="1">
                <a:solidFill>
                  <a:srgbClr val="1A3A5F"/>
                </a:solidFill>
              </a:rPr>
              <a:t>The Big Picture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6733" y="952499"/>
            <a:ext cx="10858228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1950"/>
              </a:spcAft>
            </a:pPr>
            <a:r>
              <a:rPr sz="1674" b="1">
                <a:solidFill>
                  <a:srgbClr val="52B788"/>
                </a:solidFill>
              </a:rPr>
              <a:t>Our analysis of 9,994 orders reveals 3 key opportunities to increase profitability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6733" y="1962149"/>
            <a:ext cx="571485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870" b="1">
                <a:solidFill>
                  <a:srgbClr val="52B788"/>
                </a:solidFill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28714" y="2105024"/>
            <a:ext cx="4219469" cy="2952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315" b="0">
                <a:solidFill>
                  <a:srgbClr val="1A3A5F"/>
                </a:solidFill>
              </a:rPr>
              <a:t>Discount strategies are causing significant losses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6733" y="2781300"/>
            <a:ext cx="571485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870" b="1">
                <a:solidFill>
                  <a:srgbClr val="52B788"/>
                </a:solidFill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28714" y="2771775"/>
            <a:ext cx="4476638" cy="59054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315" b="0">
                <a:solidFill>
                  <a:srgbClr val="1A3A5F"/>
                </a:solidFill>
              </a:rPr>
              <a:t>Product categories show dramatic profit differences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6733" y="3600450"/>
            <a:ext cx="571485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870" b="1">
                <a:solidFill>
                  <a:srgbClr val="52B788"/>
                </a:solidFill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28714" y="3600450"/>
            <a:ext cx="4476638" cy="59054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315" b="0">
                <a:solidFill>
                  <a:srgbClr val="1A3A5F"/>
                </a:solidFill>
              </a:rPr>
              <a:t>Regional performance gaps present growth opportunities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6733" y="4562475"/>
            <a:ext cx="5238619" cy="2952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975"/>
              </a:spcAft>
            </a:pPr>
            <a:r>
              <a:rPr sz="1435" b="1">
                <a:solidFill>
                  <a:srgbClr val="1A3A5F"/>
                </a:solidFill>
              </a:rPr>
              <a:t>Our Analysis Approach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666733" y="5027294"/>
            <a:ext cx="228594" cy="194309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90575" y="5000625"/>
            <a:ext cx="2209744" cy="2381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1A3A5F"/>
                </a:solidFill>
              </a:rPr>
              <a:t>Data cleaning &amp; preparation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666733" y="5360669"/>
            <a:ext cx="228594" cy="194309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990575" y="5334000"/>
            <a:ext cx="1990675" cy="2381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1A3A5F"/>
                </a:solidFill>
              </a:rPr>
              <a:t>Exploratory data analysis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666733" y="5694045"/>
            <a:ext cx="228594" cy="194309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990575" y="5667374"/>
            <a:ext cx="2343091" cy="2381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1A3A5F"/>
                </a:solidFill>
              </a:rPr>
              <a:t>Predictive modeling (R²: 0.85)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743531" y="2790824"/>
            <a:ext cx="4333766" cy="2667000"/>
          </a:xfrm>
          <a:prstGeom prst="roundRect">
            <a:avLst/>
          </a:prstGeom>
          <a:blipFill>
            <a:blip r:embed="rId3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6733" y="380999"/>
            <a:ext cx="10858228" cy="4762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2392" b="1">
                <a:solidFill>
                  <a:srgbClr val="1A3A5F"/>
                </a:solidFill>
              </a:rPr>
              <a:t>Finding #1: Discounts are Destroying Profit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66733" y="2200275"/>
            <a:ext cx="5238619" cy="1514475"/>
          </a:xfrm>
          <a:prstGeom prst="roundRect">
            <a:avLst>
              <a:gd name="adj" fmla="val 5031"/>
            </a:avLst>
          </a:prstGeom>
          <a:solidFill>
            <a:srgbClr val="52B788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 Same Side Corner Rectangle 3"/>
          <p:cNvSpPr/>
          <p:nvPr/>
        </p:nvSpPr>
        <p:spPr>
          <a:xfrm rot="16200000">
            <a:off x="-7954" y="2874962"/>
            <a:ext cx="1514475" cy="1651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52B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4852" y="2390774"/>
            <a:ext cx="4810004" cy="2952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975"/>
              </a:spcAft>
            </a:pPr>
            <a:r>
              <a:rPr sz="1435" b="1">
                <a:solidFill>
                  <a:srgbClr val="1A3A5F"/>
                </a:solidFill>
              </a:rPr>
              <a:t>Key Insight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4852" y="2828925"/>
            <a:ext cx="4810004" cy="695325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674" b="1">
                <a:solidFill>
                  <a:srgbClr val="D62828"/>
                </a:solidFill>
              </a:rPr>
              <a:t>Orders with &gt;40% discount lose money 95% of the time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666733" y="4261485"/>
            <a:ext cx="228594" cy="12572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038199" y="4190999"/>
            <a:ext cx="481952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1A3A5F"/>
                </a:solidFill>
              </a:rPr>
              <a:t>High discounts show </a:t>
            </a:r>
            <a:r>
              <a:rPr sz="1196" b="1">
                <a:solidFill>
                  <a:srgbClr val="1A3A5F"/>
                </a:solidFill>
              </a:rPr>
              <a:t>strong negative correlation</a:t>
            </a:r>
            <a:r>
              <a:rPr sz="1196" b="0">
                <a:solidFill>
                  <a:srgbClr val="1A3A5F"/>
                </a:solidFill>
              </a:rPr>
              <a:t> with profit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666733" y="4641056"/>
            <a:ext cx="228594" cy="18573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038199" y="4600575"/>
            <a:ext cx="4314717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1A3A5F"/>
                </a:solidFill>
              </a:rPr>
              <a:t>Orders with 20-40% discount have </a:t>
            </a:r>
            <a:r>
              <a:rPr sz="1196" b="1">
                <a:solidFill>
                  <a:srgbClr val="1A3A5F"/>
                </a:solidFill>
              </a:rPr>
              <a:t>mixed profitability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666733" y="5080634"/>
            <a:ext cx="228594" cy="125729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038199" y="5010149"/>
            <a:ext cx="480047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1A3A5F"/>
                </a:solidFill>
              </a:rPr>
              <a:t>Orders with </a:t>
            </a:r>
            <a:r>
              <a:rPr sz="1196" b="1">
                <a:solidFill>
                  <a:srgbClr val="1A3A5F"/>
                </a:solidFill>
              </a:rPr>
              <a:t>0-20% discount</a:t>
            </a:r>
            <a:r>
              <a:rPr sz="1196" b="0">
                <a:solidFill>
                  <a:srgbClr val="1A3A5F"/>
                </a:solidFill>
              </a:rPr>
              <a:t> maintain healthy profit margins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86342" y="2162174"/>
            <a:ext cx="5238619" cy="3295650"/>
          </a:xfrm>
          <a:prstGeom prst="roundRect">
            <a:avLst/>
          </a:prstGeom>
          <a:blipFill>
            <a:blip r:embed="rId5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6733" y="380999"/>
            <a:ext cx="10858228" cy="4762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2392" b="1">
                <a:solidFill>
                  <a:srgbClr val="1A3A5F"/>
                </a:solidFill>
              </a:rPr>
              <a:t>Recommendation #1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66733" y="2209800"/>
            <a:ext cx="5238619" cy="1257300"/>
          </a:xfrm>
          <a:prstGeom prst="roundRect">
            <a:avLst>
              <a:gd name="adj" fmla="val 6060"/>
            </a:avLst>
          </a:prstGeom>
          <a:solidFill>
            <a:srgbClr val="52B788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 Same Side Corner Rectangle 3"/>
          <p:cNvSpPr/>
          <p:nvPr/>
        </p:nvSpPr>
        <p:spPr>
          <a:xfrm rot="16200000">
            <a:off x="120633" y="2755900"/>
            <a:ext cx="1257300" cy="1651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52B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52476" y="2447924"/>
            <a:ext cx="4714757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975"/>
              </a:spcAft>
            </a:pPr>
            <a:r>
              <a:rPr sz="1674" b="1">
                <a:solidFill>
                  <a:srgbClr val="52B788"/>
                </a:solidFill>
              </a:rPr>
              <a:t> </a:t>
            </a:r>
            <a:r>
              <a:rPr sz="1104"/>
              <a:t>  </a:t>
            </a:r>
            <a:r>
              <a:rPr sz="1674" b="1">
                <a:solidFill>
                  <a:srgbClr val="52B788"/>
                </a:solidFill>
              </a:rPr>
              <a:t> ACTION 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952476" y="2502144"/>
            <a:ext cx="304792" cy="23446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52476" y="2933699"/>
            <a:ext cx="4714757" cy="2952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1A3A5F"/>
                </a:solidFill>
              </a:rPr>
              <a:t>Cap all discounts at 20%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666733" y="4109084"/>
            <a:ext cx="228594" cy="12572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38199" y="4038599"/>
            <a:ext cx="383847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1A3A5F"/>
                </a:solidFill>
              </a:rPr>
              <a:t>Increase </a:t>
            </a:r>
            <a:r>
              <a:rPr sz="1196" b="1">
                <a:solidFill>
                  <a:srgbClr val="1A3A5F"/>
                </a:solidFill>
              </a:rPr>
              <a:t>profit margins</a:t>
            </a:r>
            <a:r>
              <a:rPr sz="1196" b="0">
                <a:solidFill>
                  <a:srgbClr val="1A3A5F"/>
                </a:solidFill>
              </a:rPr>
              <a:t> on high-discount orders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666733" y="4540567"/>
            <a:ext cx="228594" cy="17716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038199" y="4495799"/>
            <a:ext cx="4105172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1A3A5F"/>
                </a:solidFill>
              </a:rPr>
              <a:t>Train sales team on </a:t>
            </a:r>
            <a:r>
              <a:rPr sz="1196" b="1">
                <a:solidFill>
                  <a:srgbClr val="1A3A5F"/>
                </a:solidFill>
              </a:rPr>
              <a:t>value-based selling</a:t>
            </a:r>
            <a:r>
              <a:rPr sz="1196" b="0">
                <a:solidFill>
                  <a:srgbClr val="1A3A5F"/>
                </a:solidFill>
              </a:rPr>
              <a:t> techniques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666733" y="4997767"/>
            <a:ext cx="228594" cy="17716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38199" y="4952999"/>
            <a:ext cx="4171845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1A3A5F"/>
                </a:solidFill>
              </a:rPr>
              <a:t>Monitor </a:t>
            </a:r>
            <a:r>
              <a:rPr sz="1196" b="1">
                <a:solidFill>
                  <a:srgbClr val="1A3A5F"/>
                </a:solidFill>
              </a:rPr>
              <a:t>profitability metrics</a:t>
            </a:r>
            <a:r>
              <a:rPr sz="1196" b="0">
                <a:solidFill>
                  <a:srgbClr val="1A3A5F"/>
                </a:solidFill>
              </a:rPr>
              <a:t> for each discount level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53036" y="1428750"/>
            <a:ext cx="4714757" cy="2447924"/>
          </a:xfrm>
          <a:prstGeom prst="roundRect">
            <a:avLst>
              <a:gd name="adj" fmla="val 6225"/>
            </a:avLst>
          </a:prstGeom>
          <a:solidFill>
            <a:srgbClr val="1A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38779" y="1714500"/>
            <a:ext cx="4143271" cy="2952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1300"/>
              </a:spcAft>
            </a:pPr>
            <a:r>
              <a:rPr sz="1435" b="1">
                <a:solidFill>
                  <a:srgbClr val="FFFFFF"/>
                </a:solidFill>
              </a:rPr>
              <a:t>Expected Impact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38779" y="2190749"/>
            <a:ext cx="4143271" cy="7619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650"/>
              </a:spcAft>
            </a:pPr>
            <a:r>
              <a:rPr sz="3827" b="1">
                <a:solidFill>
                  <a:srgbClr val="52B788"/>
                </a:solidFill>
              </a:rPr>
              <a:t>+35%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38779" y="3047999"/>
            <a:ext cx="4143271" cy="5333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FFFFFF"/>
                </a:solidFill>
              </a:rPr>
              <a:t>Average profit margin increase on orders with previous discounts &gt;20%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53036" y="4152899"/>
            <a:ext cx="4714757" cy="2381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975"/>
              </a:spcAft>
            </a:pPr>
            <a:r>
              <a:rPr sz="1196" b="1">
                <a:solidFill>
                  <a:srgbClr val="1A3A5F"/>
                </a:solidFill>
              </a:rPr>
              <a:t>Implementation Steps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53036" y="4533900"/>
            <a:ext cx="4714757" cy="457200"/>
          </a:xfrm>
          <a:prstGeom prst="roundRect">
            <a:avLst>
              <a:gd name="adj" fmla="val 16666"/>
            </a:avLst>
          </a:prstGeom>
          <a:solidFill>
            <a:srgbClr val="52B788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686382" y="4629150"/>
            <a:ext cx="266693" cy="266699"/>
          </a:xfrm>
          <a:prstGeom prst="roundRect">
            <a:avLst>
              <a:gd name="adj" fmla="val 50000"/>
            </a:avLst>
          </a:prstGeom>
          <a:solidFill>
            <a:srgbClr val="52B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86382" y="4629150"/>
            <a:ext cx="26669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05472" y="4657725"/>
            <a:ext cx="3505112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1A3A5F"/>
                </a:solidFill>
              </a:rPr>
              <a:t>Update sales system to enforce 20% discount cap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53036" y="5086350"/>
            <a:ext cx="4714757" cy="457200"/>
          </a:xfrm>
          <a:prstGeom prst="roundRect">
            <a:avLst>
              <a:gd name="adj" fmla="val 16666"/>
            </a:avLst>
          </a:prstGeom>
          <a:solidFill>
            <a:srgbClr val="52B788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686382" y="5181599"/>
            <a:ext cx="266693" cy="266699"/>
          </a:xfrm>
          <a:prstGeom prst="roundRect">
            <a:avLst>
              <a:gd name="adj" fmla="val 50000"/>
            </a:avLst>
          </a:prstGeom>
          <a:solidFill>
            <a:srgbClr val="52B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86382" y="5181599"/>
            <a:ext cx="26669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05472" y="5210174"/>
            <a:ext cx="3428914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1A3A5F"/>
                </a:solidFill>
              </a:rPr>
              <a:t>Conduct value-based selling training workshops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553036" y="5638799"/>
            <a:ext cx="4714757" cy="457200"/>
          </a:xfrm>
          <a:prstGeom prst="roundRect">
            <a:avLst>
              <a:gd name="adj" fmla="val 16666"/>
            </a:avLst>
          </a:prstGeom>
          <a:solidFill>
            <a:srgbClr val="52B788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686382" y="5734050"/>
            <a:ext cx="266693" cy="266699"/>
          </a:xfrm>
          <a:prstGeom prst="roundRect">
            <a:avLst>
              <a:gd name="adj" fmla="val 50000"/>
            </a:avLst>
          </a:prstGeom>
          <a:solidFill>
            <a:srgbClr val="52B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86382" y="5734050"/>
            <a:ext cx="26669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05472" y="5762625"/>
            <a:ext cx="3028874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1A3A5F"/>
                </a:solidFill>
              </a:rPr>
              <a:t>Review all existing high-discount contracts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6733" y="380999"/>
            <a:ext cx="10858228" cy="4762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2392" b="1">
                <a:solidFill>
                  <a:srgbClr val="1A3A5F"/>
                </a:solidFill>
              </a:rPr>
              <a:t>Finding #2: Not All Products are Equal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66733" y="1143000"/>
            <a:ext cx="5238619" cy="1514475"/>
          </a:xfrm>
          <a:prstGeom prst="roundRect">
            <a:avLst>
              <a:gd name="adj" fmla="val 5031"/>
            </a:avLst>
          </a:prstGeom>
          <a:solidFill>
            <a:srgbClr val="52B788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 Same Side Corner Rectangle 3"/>
          <p:cNvSpPr/>
          <p:nvPr/>
        </p:nvSpPr>
        <p:spPr>
          <a:xfrm rot="16200000">
            <a:off x="-7954" y="1817687"/>
            <a:ext cx="1514475" cy="1651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52B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4852" y="1333500"/>
            <a:ext cx="4810004" cy="2952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975"/>
              </a:spcAft>
            </a:pPr>
            <a:r>
              <a:rPr sz="1435" b="1">
                <a:solidFill>
                  <a:srgbClr val="1A3A5F"/>
                </a:solidFill>
              </a:rPr>
              <a:t>Key Insight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4852" y="1771650"/>
            <a:ext cx="4810004" cy="695325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674" b="1">
                <a:solidFill>
                  <a:srgbClr val="1A3A5F"/>
                </a:solidFill>
              </a:rPr>
              <a:t>Technology drives profit, while Furniture drags it down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6733" y="3209925"/>
            <a:ext cx="323841" cy="380999"/>
          </a:xfrm>
          <a:prstGeom prst="roundRect">
            <a:avLst>
              <a:gd name="adj" fmla="val 50000"/>
            </a:avLst>
          </a:prstGeom>
          <a:solidFill>
            <a:srgbClr val="52B788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714357" y="3317557"/>
            <a:ext cx="228594" cy="16573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133446" y="3133724"/>
            <a:ext cx="4771905" cy="5333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1A3A5F"/>
                </a:solidFill>
              </a:rPr>
              <a:t> </a:t>
            </a:r>
            <a:r>
              <a:rPr sz="1196" b="1">
                <a:solidFill>
                  <a:srgbClr val="1A3A5F"/>
                </a:solidFill>
              </a:rPr>
              <a:t>Technology</a:t>
            </a:r>
            <a:r>
              <a:rPr sz="1196" b="0">
                <a:solidFill>
                  <a:srgbClr val="1A3A5F"/>
                </a:solidFill>
              </a:rPr>
              <a:t> category generates </a:t>
            </a:r>
            <a:r>
              <a:rPr sz="1196" b="1">
                <a:solidFill>
                  <a:srgbClr val="1A3A5F"/>
                </a:solidFill>
              </a:rPr>
              <a:t>highest profit margins</a:t>
            </a:r>
            <a:r>
              <a:rPr sz="1196" b="0">
                <a:solidFill>
                  <a:srgbClr val="1A3A5F"/>
                </a:solidFill>
              </a:rPr>
              <a:t> (25% average) 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6733" y="3886200"/>
            <a:ext cx="352416" cy="380999"/>
          </a:xfrm>
          <a:prstGeom prst="roundRect">
            <a:avLst>
              <a:gd name="adj" fmla="val 50000"/>
            </a:avLst>
          </a:prstGeom>
          <a:solidFill>
            <a:srgbClr val="52B788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733406" y="3979544"/>
            <a:ext cx="228594" cy="194309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162020" y="3809999"/>
            <a:ext cx="4743331" cy="5333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1A3A5F"/>
                </a:solidFill>
              </a:rPr>
              <a:t> </a:t>
            </a:r>
            <a:r>
              <a:rPr sz="1196" b="1">
                <a:solidFill>
                  <a:srgbClr val="1A3A5F"/>
                </a:solidFill>
              </a:rPr>
              <a:t>Office Supplies</a:t>
            </a:r>
            <a:r>
              <a:rPr sz="1196" b="0">
                <a:solidFill>
                  <a:srgbClr val="1A3A5F"/>
                </a:solidFill>
              </a:rPr>
              <a:t> maintain </a:t>
            </a:r>
            <a:r>
              <a:rPr sz="1196" b="1">
                <a:solidFill>
                  <a:srgbClr val="1A3A5F"/>
                </a:solidFill>
              </a:rPr>
              <a:t>steady profitability</a:t>
            </a:r>
            <a:r>
              <a:rPr sz="1196" b="0">
                <a:solidFill>
                  <a:srgbClr val="1A3A5F"/>
                </a:solidFill>
              </a:rPr>
              <a:t> with high volume 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66733" y="4562475"/>
            <a:ext cx="276218" cy="380999"/>
          </a:xfrm>
          <a:prstGeom prst="roundRect">
            <a:avLst>
              <a:gd name="adj" fmla="val 50000"/>
            </a:avLst>
          </a:prstGeom>
          <a:solidFill>
            <a:srgbClr val="D62828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695307" y="4664392"/>
            <a:ext cx="228594" cy="17716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85822" y="4486275"/>
            <a:ext cx="4819529" cy="5333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1A3A5F"/>
                </a:solidFill>
              </a:rPr>
              <a:t> </a:t>
            </a:r>
            <a:r>
              <a:rPr sz="1196" b="1">
                <a:solidFill>
                  <a:srgbClr val="D62828"/>
                </a:solidFill>
              </a:rPr>
              <a:t>Furniture</a:t>
            </a:r>
            <a:r>
              <a:rPr sz="1196" b="0">
                <a:solidFill>
                  <a:srgbClr val="1A3A5F"/>
                </a:solidFill>
              </a:rPr>
              <a:t> category shows </a:t>
            </a:r>
            <a:r>
              <a:rPr sz="1196" b="1">
                <a:solidFill>
                  <a:srgbClr val="D62828"/>
                </a:solidFill>
              </a:rPr>
              <a:t>negative profitability</a:t>
            </a:r>
            <a:r>
              <a:rPr sz="1196" b="0">
                <a:solidFill>
                  <a:srgbClr val="1A3A5F"/>
                </a:solidFill>
              </a:rPr>
              <a:t>, especially "Tables" sub-category 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6733" y="5476875"/>
            <a:ext cx="1142971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A3A5F"/>
                </a:solidFill>
              </a:rPr>
              <a:t>Technology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952576" y="5448300"/>
            <a:ext cx="3952776" cy="285750"/>
          </a:xfrm>
          <a:prstGeom prst="roundRect">
            <a:avLst>
              <a:gd name="adj" fmla="val 100000"/>
            </a:avLst>
          </a:prstGeom>
          <a:solidFill>
            <a:srgbClr val="E9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952576" y="5448300"/>
            <a:ext cx="3362240" cy="285750"/>
          </a:xfrm>
          <a:prstGeom prst="roundRect">
            <a:avLst>
              <a:gd name="adj" fmla="val 100000"/>
            </a:avLst>
          </a:prstGeom>
          <a:solidFill>
            <a:srgbClr val="52B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262" y="5495924"/>
            <a:ext cx="323841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FFFFFF"/>
                </a:solidFill>
              </a:rPr>
              <a:t>+85K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6733" y="6048375"/>
            <a:ext cx="1142971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A3A5F"/>
                </a:solidFill>
              </a:rPr>
              <a:t>Office Supplies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952576" y="6019800"/>
            <a:ext cx="3952776" cy="285750"/>
          </a:xfrm>
          <a:prstGeom prst="roundRect">
            <a:avLst>
              <a:gd name="adj" fmla="val 100000"/>
            </a:avLst>
          </a:prstGeom>
          <a:solidFill>
            <a:srgbClr val="E9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1952576" y="6019800"/>
            <a:ext cx="2571685" cy="285750"/>
          </a:xfrm>
          <a:prstGeom prst="roundRect">
            <a:avLst>
              <a:gd name="adj" fmla="val 100000"/>
            </a:avLst>
          </a:prstGeom>
          <a:solidFill>
            <a:srgbClr val="52B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262" y="6067424"/>
            <a:ext cx="323841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FFFFFF"/>
                </a:solidFill>
              </a:rPr>
              <a:t>+65K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6733" y="6619875"/>
            <a:ext cx="1142971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A3A5F"/>
                </a:solidFill>
              </a:rPr>
              <a:t>Furniture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952576" y="6591300"/>
            <a:ext cx="3952776" cy="285750"/>
          </a:xfrm>
          <a:prstGeom prst="roundRect">
            <a:avLst>
              <a:gd name="adj" fmla="val 100000"/>
            </a:avLst>
          </a:prstGeom>
          <a:solidFill>
            <a:srgbClr val="E9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1952576" y="6591300"/>
            <a:ext cx="1190595" cy="285750"/>
          </a:xfrm>
          <a:prstGeom prst="roundRect">
            <a:avLst>
              <a:gd name="adj" fmla="val 100000"/>
            </a:avLst>
          </a:prstGeom>
          <a:solidFill>
            <a:srgbClr val="D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514837" y="6638924"/>
            <a:ext cx="295267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FFFFFF"/>
                </a:solidFill>
              </a:rPr>
              <a:t>-30K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86342" y="2543175"/>
            <a:ext cx="5238619" cy="2924175"/>
          </a:xfrm>
          <a:prstGeom prst="roundRect">
            <a:avLst/>
          </a:prstGeom>
          <a:blipFill>
            <a:blip r:embed="rId5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6733" y="380999"/>
            <a:ext cx="10858228" cy="4762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2392" b="1">
                <a:solidFill>
                  <a:srgbClr val="1A3A5F"/>
                </a:solidFill>
              </a:rPr>
              <a:t>Recommendation #2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66733" y="1143000"/>
            <a:ext cx="5286242" cy="5334000"/>
          </a:xfrm>
          <a:prstGeom prst="roundRect">
            <a:avLst>
              <a:gd name="adj" fmla="val 2882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52476" y="1428750"/>
            <a:ext cx="571485" cy="571500"/>
          </a:xfrm>
          <a:prstGeom prst="roundRect">
            <a:avLst>
              <a:gd name="adj" fmla="val 50000"/>
            </a:avLst>
          </a:prstGeom>
          <a:solidFill>
            <a:srgbClr val="52B788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1085822" y="1632438"/>
            <a:ext cx="304792" cy="16412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714457" y="1543050"/>
            <a:ext cx="3524161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74" b="1">
                <a:solidFill>
                  <a:srgbClr val="1A3A5F"/>
                </a:solidFill>
              </a:rPr>
              <a:t>Promote Technology Products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52476" y="2238375"/>
            <a:ext cx="266693" cy="266699"/>
          </a:xfrm>
          <a:prstGeom prst="roundRect">
            <a:avLst>
              <a:gd name="adj" fmla="val 50000"/>
            </a:avLst>
          </a:prstGeom>
          <a:solidFill>
            <a:srgbClr val="52B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52476" y="2238375"/>
            <a:ext cx="26669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62040" y="2238375"/>
            <a:ext cx="4076598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1A3A5F"/>
                </a:solidFill>
              </a:rPr>
              <a:t>Increase </a:t>
            </a:r>
            <a:r>
              <a:rPr sz="1196" b="1">
                <a:solidFill>
                  <a:srgbClr val="52B788"/>
                </a:solidFill>
              </a:rPr>
              <a:t>marketing spend</a:t>
            </a:r>
            <a:r>
              <a:rPr sz="1196" b="0">
                <a:solidFill>
                  <a:srgbClr val="1A3A5F"/>
                </a:solidFill>
              </a:rPr>
              <a:t> for Technology category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52476" y="2695575"/>
            <a:ext cx="266693" cy="266699"/>
          </a:xfrm>
          <a:prstGeom prst="roundRect">
            <a:avLst>
              <a:gd name="adj" fmla="val 50000"/>
            </a:avLst>
          </a:prstGeom>
          <a:solidFill>
            <a:srgbClr val="52B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52476" y="2695575"/>
            <a:ext cx="26669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62040" y="2695575"/>
            <a:ext cx="4305192" cy="5333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1A3A5F"/>
                </a:solidFill>
              </a:rPr>
              <a:t>Create </a:t>
            </a:r>
            <a:r>
              <a:rPr sz="1196" b="1">
                <a:solidFill>
                  <a:srgbClr val="52B788"/>
                </a:solidFill>
              </a:rPr>
              <a:t>sales incentives</a:t>
            </a:r>
            <a:r>
              <a:rPr sz="1196" b="0">
                <a:solidFill>
                  <a:srgbClr val="1A3A5F"/>
                </a:solidFill>
              </a:rPr>
              <a:t> focused on high-margin tech items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52476" y="3419474"/>
            <a:ext cx="266693" cy="266699"/>
          </a:xfrm>
          <a:prstGeom prst="roundRect">
            <a:avLst>
              <a:gd name="adj" fmla="val 50000"/>
            </a:avLst>
          </a:prstGeom>
          <a:solidFill>
            <a:srgbClr val="52B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52476" y="3419474"/>
            <a:ext cx="26669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62040" y="3419474"/>
            <a:ext cx="4305192" cy="5333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1A3A5F"/>
                </a:solidFill>
              </a:rPr>
              <a:t>Develop </a:t>
            </a:r>
            <a:r>
              <a:rPr sz="1196" b="1">
                <a:solidFill>
                  <a:srgbClr val="52B788"/>
                </a:solidFill>
              </a:rPr>
              <a:t>bundle offers</a:t>
            </a:r>
            <a:r>
              <a:rPr sz="1196" b="0">
                <a:solidFill>
                  <a:srgbClr val="1A3A5F"/>
                </a:solidFill>
              </a:rPr>
              <a:t> with complementary tech products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52476" y="4429125"/>
            <a:ext cx="4714757" cy="1762125"/>
          </a:xfrm>
          <a:prstGeom prst="roundRect">
            <a:avLst>
              <a:gd name="adj" fmla="val 8648"/>
            </a:avLst>
          </a:prstGeom>
          <a:solidFill>
            <a:srgbClr val="52B788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42971" y="4619625"/>
            <a:ext cx="4333766" cy="2381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1196" b="1">
                <a:solidFill>
                  <a:srgbClr val="52B788"/>
                </a:solidFill>
              </a:rPr>
              <a:t> </a:t>
            </a:r>
            <a:r>
              <a:rPr sz="1104"/>
              <a:t>  </a:t>
            </a:r>
            <a:r>
              <a:rPr sz="1196" b="1">
                <a:solidFill>
                  <a:srgbClr val="52B788"/>
                </a:solidFill>
              </a:rPr>
              <a:t> Expected Impact 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1142971" y="4648200"/>
            <a:ext cx="228594" cy="17145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142971" y="4952999"/>
            <a:ext cx="4333766" cy="47624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1A3A5F"/>
                </a:solidFill>
              </a:rPr>
              <a:t>Technology category shows highest profit margins (25% average)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2971" y="5572125"/>
            <a:ext cx="838179" cy="4286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52" b="1">
                <a:solidFill>
                  <a:srgbClr val="52B788"/>
                </a:solidFill>
              </a:rPr>
              <a:t>+42%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24021" y="5676900"/>
            <a:ext cx="2847903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49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1A3A5F"/>
                </a:solidFill>
              </a:rPr>
              <a:t>Potential increase in overall profitability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38719" y="1143000"/>
            <a:ext cx="5286242" cy="5334000"/>
          </a:xfrm>
          <a:prstGeom prst="roundRect">
            <a:avLst>
              <a:gd name="adj" fmla="val 2882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524461" y="1428750"/>
            <a:ext cx="571485" cy="571500"/>
          </a:xfrm>
          <a:prstGeom prst="roundRect">
            <a:avLst>
              <a:gd name="adj" fmla="val 50000"/>
            </a:avLst>
          </a:prstGeom>
          <a:solidFill>
            <a:srgbClr val="D62828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6657808" y="1600200"/>
            <a:ext cx="304792" cy="22860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7286442" y="1543050"/>
            <a:ext cx="3762280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74" b="1">
                <a:solidFill>
                  <a:srgbClr val="1A3A5F"/>
                </a:solidFill>
              </a:rPr>
              <a:t>Investigate Tables Sub-Category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24461" y="2238375"/>
            <a:ext cx="266693" cy="266699"/>
          </a:xfrm>
          <a:prstGeom prst="roundRect">
            <a:avLst>
              <a:gd name="adj" fmla="val 50000"/>
            </a:avLst>
          </a:prstGeom>
          <a:solidFill>
            <a:srgbClr val="D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24461" y="2238375"/>
            <a:ext cx="26669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34026" y="2238375"/>
            <a:ext cx="360035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1A3A5F"/>
                </a:solidFill>
              </a:rPr>
              <a:t>Conduct </a:t>
            </a:r>
            <a:r>
              <a:rPr sz="1196" b="1">
                <a:solidFill>
                  <a:srgbClr val="D62828"/>
                </a:solidFill>
              </a:rPr>
              <a:t>cost analysis</a:t>
            </a:r>
            <a:r>
              <a:rPr sz="1196" b="0">
                <a:solidFill>
                  <a:srgbClr val="1A3A5F"/>
                </a:solidFill>
              </a:rPr>
              <a:t> of Tables sub-category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524461" y="2695575"/>
            <a:ext cx="266693" cy="266699"/>
          </a:xfrm>
          <a:prstGeom prst="roundRect">
            <a:avLst>
              <a:gd name="adj" fmla="val 50000"/>
            </a:avLst>
          </a:prstGeom>
          <a:solidFill>
            <a:srgbClr val="D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24461" y="2695575"/>
            <a:ext cx="26669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34026" y="2695575"/>
            <a:ext cx="404802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1A3A5F"/>
                </a:solidFill>
              </a:rPr>
              <a:t>Review </a:t>
            </a:r>
            <a:r>
              <a:rPr sz="1196" b="1">
                <a:solidFill>
                  <a:srgbClr val="D62828"/>
                </a:solidFill>
              </a:rPr>
              <a:t>shipping costs</a:t>
            </a:r>
            <a:r>
              <a:rPr sz="1196" b="0">
                <a:solidFill>
                  <a:srgbClr val="1A3A5F"/>
                </a:solidFill>
              </a:rPr>
              <a:t> and logistics for bulky items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524461" y="3152775"/>
            <a:ext cx="266693" cy="266699"/>
          </a:xfrm>
          <a:prstGeom prst="roundRect">
            <a:avLst>
              <a:gd name="adj" fmla="val 50000"/>
            </a:avLst>
          </a:prstGeom>
          <a:solidFill>
            <a:srgbClr val="D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24461" y="3152775"/>
            <a:ext cx="26669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34026" y="3152775"/>
            <a:ext cx="4114697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1A3A5F"/>
                </a:solidFill>
              </a:rPr>
              <a:t>Analyze </a:t>
            </a:r>
            <a:r>
              <a:rPr sz="1196" b="1">
                <a:solidFill>
                  <a:srgbClr val="D62828"/>
                </a:solidFill>
              </a:rPr>
              <a:t>supplier pricing</a:t>
            </a:r>
            <a:r>
              <a:rPr sz="1196" b="0">
                <a:solidFill>
                  <a:srgbClr val="1A3A5F"/>
                </a:solidFill>
              </a:rPr>
              <a:t> and negotiate better terms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524461" y="4667249"/>
            <a:ext cx="4714757" cy="1523999"/>
          </a:xfrm>
          <a:prstGeom prst="roundRect">
            <a:avLst>
              <a:gd name="adj" fmla="val 10000"/>
            </a:avLst>
          </a:prstGeom>
          <a:solidFill>
            <a:srgbClr val="D62828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714957" y="4857750"/>
            <a:ext cx="4333766" cy="2381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1196" b="1">
                <a:solidFill>
                  <a:srgbClr val="D62828"/>
                </a:solidFill>
              </a:rPr>
              <a:t> </a:t>
            </a:r>
            <a:r>
              <a:rPr sz="1104"/>
              <a:t>  </a:t>
            </a:r>
            <a:r>
              <a:rPr sz="1196" b="1">
                <a:solidFill>
                  <a:srgbClr val="D62828"/>
                </a:solidFill>
              </a:rPr>
              <a:t> Urgency Level </a:t>
            </a:r>
          </a:p>
        </p:txBody>
      </p:sp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6714957" y="4883467"/>
            <a:ext cx="228594" cy="177164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6714957" y="5191125"/>
            <a:ext cx="4333766" cy="2381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1A3A5F"/>
                </a:solidFill>
              </a:rPr>
              <a:t>Tables sub-category shows consistent negative profitability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714957" y="5572125"/>
            <a:ext cx="771505" cy="4286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52" b="1">
                <a:solidFill>
                  <a:srgbClr val="D62828"/>
                </a:solidFill>
              </a:rPr>
              <a:t>-28%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629334" y="5676900"/>
            <a:ext cx="2819329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49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1A3A5F"/>
                </a:solidFill>
              </a:rPr>
              <a:t>Average loss margin on Tables products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6733" y="380999"/>
            <a:ext cx="10858228" cy="4762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2392" b="1">
                <a:solidFill>
                  <a:srgbClr val="1A3A5F"/>
                </a:solidFill>
              </a:rPr>
              <a:t>Finding #3: A Tale of Two Regions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66733" y="1143000"/>
            <a:ext cx="5238619" cy="1514475"/>
          </a:xfrm>
          <a:prstGeom prst="roundRect">
            <a:avLst>
              <a:gd name="adj" fmla="val 5031"/>
            </a:avLst>
          </a:prstGeom>
          <a:solidFill>
            <a:srgbClr val="52B788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 Same Side Corner Rectangle 3"/>
          <p:cNvSpPr/>
          <p:nvPr/>
        </p:nvSpPr>
        <p:spPr>
          <a:xfrm rot="16200000">
            <a:off x="-7954" y="1817687"/>
            <a:ext cx="1514475" cy="1651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52B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4852" y="1333500"/>
            <a:ext cx="4810004" cy="2952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975"/>
              </a:spcAft>
            </a:pPr>
            <a:r>
              <a:rPr sz="1435" b="1">
                <a:solidFill>
                  <a:srgbClr val="1A3A5F"/>
                </a:solidFill>
              </a:rPr>
              <a:t>Key Insight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4852" y="1771650"/>
            <a:ext cx="4810004" cy="695325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674" b="1">
                <a:solidFill>
                  <a:srgbClr val="1A3A5F"/>
                </a:solidFill>
              </a:rPr>
              <a:t>West &amp; East are thriving. Central &amp; South are an untapped opportunity.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6733" y="3209925"/>
            <a:ext cx="371465" cy="380999"/>
          </a:xfrm>
          <a:prstGeom prst="roundRect">
            <a:avLst>
              <a:gd name="adj" fmla="val 50000"/>
            </a:avLst>
          </a:prstGeom>
          <a:solidFill>
            <a:srgbClr val="52B788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733406" y="3337559"/>
            <a:ext cx="228594" cy="12572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181070" y="3133724"/>
            <a:ext cx="4724281" cy="5333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1A3A5F"/>
                </a:solidFill>
              </a:rPr>
              <a:t> </a:t>
            </a:r>
            <a:r>
              <a:rPr sz="1196" b="1">
                <a:solidFill>
                  <a:srgbClr val="1A3A5F"/>
                </a:solidFill>
              </a:rPr>
              <a:t>West</a:t>
            </a:r>
            <a:r>
              <a:rPr sz="1196" b="0">
                <a:solidFill>
                  <a:srgbClr val="1A3A5F"/>
                </a:solidFill>
              </a:rPr>
              <a:t> region leads with </a:t>
            </a:r>
            <a:r>
              <a:rPr sz="1196" b="1">
                <a:solidFill>
                  <a:srgbClr val="1A3A5F"/>
                </a:solidFill>
              </a:rPr>
              <a:t>highest profit margins</a:t>
            </a:r>
            <a:r>
              <a:rPr sz="1196" b="0">
                <a:solidFill>
                  <a:srgbClr val="1A3A5F"/>
                </a:solidFill>
              </a:rPr>
              <a:t> (32% average) 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6733" y="3886200"/>
            <a:ext cx="361940" cy="380999"/>
          </a:xfrm>
          <a:prstGeom prst="roundRect">
            <a:avLst>
              <a:gd name="adj" fmla="val 50000"/>
            </a:avLst>
          </a:prstGeom>
          <a:solidFill>
            <a:srgbClr val="52B788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733406" y="4013834"/>
            <a:ext cx="228594" cy="125729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171545" y="3809999"/>
            <a:ext cx="4733806" cy="5333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1A3A5F"/>
                </a:solidFill>
              </a:rPr>
              <a:t> </a:t>
            </a:r>
            <a:r>
              <a:rPr sz="1196" b="1">
                <a:solidFill>
                  <a:srgbClr val="1A3A5F"/>
                </a:solidFill>
              </a:rPr>
              <a:t>East</a:t>
            </a:r>
            <a:r>
              <a:rPr sz="1196" b="0">
                <a:solidFill>
                  <a:srgbClr val="1A3A5F"/>
                </a:solidFill>
              </a:rPr>
              <a:t> region shows </a:t>
            </a:r>
            <a:r>
              <a:rPr sz="1196" b="1">
                <a:solidFill>
                  <a:srgbClr val="1A3A5F"/>
                </a:solidFill>
              </a:rPr>
              <a:t>strong performance</a:t>
            </a:r>
            <a:r>
              <a:rPr sz="1196" b="0">
                <a:solidFill>
                  <a:srgbClr val="1A3A5F"/>
                </a:solidFill>
              </a:rPr>
              <a:t> with high volume sales 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66733" y="4562475"/>
            <a:ext cx="295267" cy="380999"/>
          </a:xfrm>
          <a:prstGeom prst="roundRect">
            <a:avLst>
              <a:gd name="adj" fmla="val 50000"/>
            </a:avLst>
          </a:prstGeom>
          <a:solidFill>
            <a:srgbClr val="52B788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704832" y="4667249"/>
            <a:ext cx="228594" cy="17145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104872" y="4486275"/>
            <a:ext cx="4800479" cy="5333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1A3A5F"/>
                </a:solidFill>
              </a:rPr>
              <a:t> </a:t>
            </a:r>
            <a:r>
              <a:rPr sz="1196" b="1">
                <a:solidFill>
                  <a:srgbClr val="1A3A5F"/>
                </a:solidFill>
              </a:rPr>
              <a:t>Central</a:t>
            </a:r>
            <a:r>
              <a:rPr sz="1196" b="0">
                <a:solidFill>
                  <a:srgbClr val="1A3A5F"/>
                </a:solidFill>
              </a:rPr>
              <a:t> region has </a:t>
            </a:r>
            <a:r>
              <a:rPr sz="1196" b="1">
                <a:solidFill>
                  <a:srgbClr val="1A3A5F"/>
                </a:solidFill>
              </a:rPr>
              <a:t>significant growth potential</a:t>
            </a:r>
            <a:r>
              <a:rPr sz="1196" b="0">
                <a:solidFill>
                  <a:srgbClr val="1A3A5F"/>
                </a:solidFill>
              </a:rPr>
              <a:t> with existing customer base 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6733" y="5238749"/>
            <a:ext cx="323841" cy="380999"/>
          </a:xfrm>
          <a:prstGeom prst="roundRect">
            <a:avLst>
              <a:gd name="adj" fmla="val 50000"/>
            </a:avLst>
          </a:prstGeom>
          <a:solidFill>
            <a:srgbClr val="52B788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714357" y="5343525"/>
            <a:ext cx="228594" cy="17145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133446" y="5162550"/>
            <a:ext cx="4771905" cy="5333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1A3A5F"/>
                </a:solidFill>
              </a:rPr>
              <a:t> </a:t>
            </a:r>
            <a:r>
              <a:rPr sz="1196" b="1">
                <a:solidFill>
                  <a:srgbClr val="1A3A5F"/>
                </a:solidFill>
              </a:rPr>
              <a:t>South</a:t>
            </a:r>
            <a:r>
              <a:rPr sz="1196" b="0">
                <a:solidFill>
                  <a:srgbClr val="1A3A5F"/>
                </a:solidFill>
              </a:rPr>
              <a:t> region shows </a:t>
            </a:r>
            <a:r>
              <a:rPr sz="1196" b="1">
                <a:solidFill>
                  <a:srgbClr val="1A3A5F"/>
                </a:solidFill>
              </a:rPr>
              <a:t>lower penetration</a:t>
            </a:r>
            <a:r>
              <a:rPr sz="1196" b="0">
                <a:solidFill>
                  <a:srgbClr val="1A3A5F"/>
                </a:solidFill>
              </a:rPr>
              <a:t> but higher average order value 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6733" y="6153149"/>
            <a:ext cx="761980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A3A5F"/>
                </a:solidFill>
              </a:rPr>
              <a:t>West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571585" y="6124574"/>
            <a:ext cx="4333766" cy="285750"/>
          </a:xfrm>
          <a:prstGeom prst="roundRect">
            <a:avLst>
              <a:gd name="adj" fmla="val 100000"/>
            </a:avLst>
          </a:prstGeom>
          <a:solidFill>
            <a:srgbClr val="E9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571585" y="6124574"/>
            <a:ext cx="3905152" cy="285750"/>
          </a:xfrm>
          <a:prstGeom prst="roundRect">
            <a:avLst>
              <a:gd name="adj" fmla="val 100000"/>
            </a:avLst>
          </a:prstGeom>
          <a:solidFill>
            <a:srgbClr val="52B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262" y="6172200"/>
            <a:ext cx="323841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FFFFFF"/>
                </a:solidFill>
              </a:rPr>
              <a:t>+90K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6733" y="6724649"/>
            <a:ext cx="761980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A3A5F"/>
                </a:solidFill>
              </a:rPr>
              <a:t>East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571585" y="6696074"/>
            <a:ext cx="4333766" cy="285750"/>
          </a:xfrm>
          <a:prstGeom prst="roundRect">
            <a:avLst>
              <a:gd name="adj" fmla="val 100000"/>
            </a:avLst>
          </a:prstGeom>
          <a:solidFill>
            <a:srgbClr val="E9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571585" y="6696074"/>
            <a:ext cx="3247943" cy="285750"/>
          </a:xfrm>
          <a:prstGeom prst="roundRect">
            <a:avLst>
              <a:gd name="adj" fmla="val 100000"/>
            </a:avLst>
          </a:prstGeom>
          <a:solidFill>
            <a:srgbClr val="52B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262" y="6743700"/>
            <a:ext cx="323841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FFFFFF"/>
                </a:solidFill>
              </a:rPr>
              <a:t>+75K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6733" y="7296149"/>
            <a:ext cx="761980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A3A5F"/>
                </a:solidFill>
              </a:rPr>
              <a:t>Central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571585" y="7267574"/>
            <a:ext cx="4333766" cy="285750"/>
          </a:xfrm>
          <a:prstGeom prst="roundRect">
            <a:avLst>
              <a:gd name="adj" fmla="val 100000"/>
            </a:avLst>
          </a:prstGeom>
          <a:solidFill>
            <a:srgbClr val="E9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1571585" y="7267574"/>
            <a:ext cx="1952576" cy="285750"/>
          </a:xfrm>
          <a:prstGeom prst="roundRect">
            <a:avLst>
              <a:gd name="adj" fmla="val 100000"/>
            </a:avLst>
          </a:prstGeom>
          <a:solidFill>
            <a:srgbClr val="52B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262" y="7315200"/>
            <a:ext cx="323841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FFFFFF"/>
                </a:solidFill>
              </a:rPr>
              <a:t>+45K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6733" y="7867649"/>
            <a:ext cx="761980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A3A5F"/>
                </a:solidFill>
              </a:rPr>
              <a:t>South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571585" y="7839074"/>
            <a:ext cx="4333766" cy="285750"/>
          </a:xfrm>
          <a:prstGeom prst="roundRect">
            <a:avLst>
              <a:gd name="adj" fmla="val 100000"/>
            </a:avLst>
          </a:prstGeom>
          <a:solidFill>
            <a:srgbClr val="E9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1571585" y="7839074"/>
            <a:ext cx="1304892" cy="285750"/>
          </a:xfrm>
          <a:prstGeom prst="roundRect">
            <a:avLst>
              <a:gd name="adj" fmla="val 100000"/>
            </a:avLst>
          </a:prstGeom>
          <a:solidFill>
            <a:srgbClr val="52B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486262" y="7886700"/>
            <a:ext cx="323841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FFFFFF"/>
                </a:solidFill>
              </a:rPr>
              <a:t>+30K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286342" y="3667124"/>
            <a:ext cx="2581210" cy="1933574"/>
          </a:xfrm>
          <a:prstGeom prst="roundRect">
            <a:avLst/>
          </a:prstGeom>
          <a:blipFill>
            <a:blip r:embed="rId4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8867553" y="3724274"/>
            <a:ext cx="1276318" cy="2105024"/>
          </a:xfrm>
          <a:prstGeom prst="roundRect">
            <a:avLst>
              <a:gd name="adj" fmla="val 1194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058048" y="3914775"/>
            <a:ext cx="895327" cy="4381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1076" b="1">
                <a:solidFill>
                  <a:srgbClr val="1A3A5F"/>
                </a:solidFill>
              </a:rPr>
              <a:t>Performance Gap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58048" y="4448175"/>
            <a:ext cx="895327" cy="3809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13" b="1">
                <a:solidFill>
                  <a:srgbClr val="52B788"/>
                </a:solidFill>
              </a:rPr>
              <a:t>3x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058048" y="4876800"/>
            <a:ext cx="895327" cy="57150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spcBef>
                <a:spcPts val="325"/>
              </a:spcBef>
              <a:spcAft>
                <a:spcPts val="0"/>
              </a:spcAft>
            </a:pPr>
            <a:r>
              <a:rPr sz="956" b="0">
                <a:solidFill>
                  <a:srgbClr val="6C757D"/>
                </a:solidFill>
              </a:rPr>
              <a:t>West region outperforms Central by 3x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0248643" y="3724274"/>
            <a:ext cx="1276318" cy="2105024"/>
          </a:xfrm>
          <a:prstGeom prst="roundRect">
            <a:avLst>
              <a:gd name="adj" fmla="val 1194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439139" y="3914775"/>
            <a:ext cx="895327" cy="4381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1076" b="1">
                <a:solidFill>
                  <a:srgbClr val="1A3A5F"/>
                </a:solidFill>
              </a:rPr>
              <a:t>Growth Potential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439139" y="4448175"/>
            <a:ext cx="895327" cy="3809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13" b="1">
                <a:solidFill>
                  <a:srgbClr val="52B788"/>
                </a:solidFill>
              </a:rPr>
              <a:t>+45%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439139" y="4876800"/>
            <a:ext cx="895327" cy="7619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spcBef>
                <a:spcPts val="325"/>
              </a:spcBef>
              <a:spcAft>
                <a:spcPts val="0"/>
              </a:spcAft>
            </a:pPr>
            <a:r>
              <a:rPr sz="956" b="0">
                <a:solidFill>
                  <a:srgbClr val="6C757D"/>
                </a:solidFill>
              </a:rPr>
              <a:t>Potential increase in Central region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6733" y="380999"/>
            <a:ext cx="10858228" cy="4762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2392" b="1">
                <a:solidFill>
                  <a:srgbClr val="1A3A5F"/>
                </a:solidFill>
              </a:rPr>
              <a:t>Recommendation #3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66733" y="1143000"/>
            <a:ext cx="5238619" cy="1257300"/>
          </a:xfrm>
          <a:prstGeom prst="roundRect">
            <a:avLst>
              <a:gd name="adj" fmla="val 6060"/>
            </a:avLst>
          </a:prstGeom>
          <a:solidFill>
            <a:srgbClr val="52B788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 Same Side Corner Rectangle 3"/>
          <p:cNvSpPr/>
          <p:nvPr/>
        </p:nvSpPr>
        <p:spPr>
          <a:xfrm rot="16200000">
            <a:off x="120633" y="1689100"/>
            <a:ext cx="1257300" cy="1651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52B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52476" y="1381124"/>
            <a:ext cx="4714757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975"/>
              </a:spcAft>
            </a:pPr>
            <a:r>
              <a:rPr sz="1674" b="1">
                <a:solidFill>
                  <a:srgbClr val="52B788"/>
                </a:solidFill>
              </a:rPr>
              <a:t> </a:t>
            </a:r>
            <a:r>
              <a:rPr sz="1104"/>
              <a:t>  </a:t>
            </a:r>
            <a:r>
              <a:rPr sz="1674" b="1">
                <a:solidFill>
                  <a:srgbClr val="52B788"/>
                </a:solidFill>
              </a:rPr>
              <a:t> ACTION 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952476" y="1435344"/>
            <a:ext cx="304792" cy="23446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52476" y="1866899"/>
            <a:ext cx="4714757" cy="2952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1A3A5F"/>
                </a:solidFill>
              </a:rPr>
              <a:t>Replicate West's success in the Central region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6733" y="2876549"/>
            <a:ext cx="5238619" cy="2952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1300"/>
              </a:spcAft>
            </a:pPr>
            <a:r>
              <a:rPr sz="1435" b="1">
                <a:solidFill>
                  <a:srgbClr val="1A3A5F"/>
                </a:solidFill>
              </a:rPr>
              <a:t>Form Regional Task Force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6733" y="3362324"/>
            <a:ext cx="2543111" cy="666750"/>
          </a:xfrm>
          <a:prstGeom prst="roundRect">
            <a:avLst>
              <a:gd name="adj" fmla="val 22857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09604" y="3505199"/>
            <a:ext cx="380990" cy="380999"/>
          </a:xfrm>
          <a:prstGeom prst="roundRect">
            <a:avLst>
              <a:gd name="adj" fmla="val 50000"/>
            </a:avLst>
          </a:prstGeom>
          <a:solidFill>
            <a:srgbClr val="52B788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885802" y="3612832"/>
            <a:ext cx="228594" cy="16573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333466" y="3590924"/>
            <a:ext cx="1695407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A3A5F"/>
                </a:solidFill>
              </a:rPr>
              <a:t>Regional Sales Director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52716" y="3362324"/>
            <a:ext cx="2543111" cy="666750"/>
          </a:xfrm>
          <a:prstGeom prst="roundRect">
            <a:avLst>
              <a:gd name="adj" fmla="val 22857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495587" y="3505199"/>
            <a:ext cx="380990" cy="380999"/>
          </a:xfrm>
          <a:prstGeom prst="roundRect">
            <a:avLst>
              <a:gd name="adj" fmla="val 50000"/>
            </a:avLst>
          </a:prstGeom>
          <a:solidFill>
            <a:srgbClr val="52B788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3571785" y="3607117"/>
            <a:ext cx="228594" cy="17716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019449" y="3590924"/>
            <a:ext cx="914377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A3A5F"/>
                </a:solidFill>
              </a:rPr>
              <a:t>Data Analyst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66733" y="4171950"/>
            <a:ext cx="2543111" cy="666750"/>
          </a:xfrm>
          <a:prstGeom prst="roundRect">
            <a:avLst>
              <a:gd name="adj" fmla="val 22857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09604" y="4314825"/>
            <a:ext cx="380990" cy="380999"/>
          </a:xfrm>
          <a:prstGeom prst="roundRect">
            <a:avLst>
              <a:gd name="adj" fmla="val 50000"/>
            </a:avLst>
          </a:prstGeom>
          <a:solidFill>
            <a:srgbClr val="52B788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885802" y="4422457"/>
            <a:ext cx="228594" cy="165734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333466" y="4400550"/>
            <a:ext cx="1133446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A3A5F"/>
                </a:solidFill>
              </a:rPr>
              <a:t>Marketing Lead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352716" y="4171950"/>
            <a:ext cx="2543111" cy="666750"/>
          </a:xfrm>
          <a:prstGeom prst="roundRect">
            <a:avLst>
              <a:gd name="adj" fmla="val 22857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3495587" y="4314825"/>
            <a:ext cx="380990" cy="380999"/>
          </a:xfrm>
          <a:prstGeom prst="roundRect">
            <a:avLst>
              <a:gd name="adj" fmla="val 50000"/>
            </a:avLst>
          </a:prstGeom>
          <a:solidFill>
            <a:srgbClr val="52B788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3571785" y="4408170"/>
            <a:ext cx="228594" cy="194309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4019449" y="4400550"/>
            <a:ext cx="1485862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A3A5F"/>
                </a:solidFill>
              </a:rPr>
              <a:t>Operations Manager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66733" y="5314950"/>
            <a:ext cx="266693" cy="266699"/>
          </a:xfrm>
          <a:prstGeom prst="roundRect">
            <a:avLst>
              <a:gd name="adj" fmla="val 50000"/>
            </a:avLst>
          </a:prstGeom>
          <a:solidFill>
            <a:srgbClr val="52B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6733" y="5314950"/>
            <a:ext cx="26669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76298" y="5314950"/>
            <a:ext cx="352416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1A3A5F"/>
                </a:solidFill>
              </a:rPr>
              <a:t>Analyze </a:t>
            </a:r>
            <a:r>
              <a:rPr sz="1196" b="1">
                <a:solidFill>
                  <a:srgbClr val="52B788"/>
                </a:solidFill>
              </a:rPr>
              <a:t>successful strategies</a:t>
            </a:r>
            <a:r>
              <a:rPr sz="1196" b="0">
                <a:solidFill>
                  <a:srgbClr val="1A3A5F"/>
                </a:solidFill>
              </a:rPr>
              <a:t> in West region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66733" y="5724524"/>
            <a:ext cx="266693" cy="266699"/>
          </a:xfrm>
          <a:prstGeom prst="roundRect">
            <a:avLst>
              <a:gd name="adj" fmla="val 50000"/>
            </a:avLst>
          </a:prstGeom>
          <a:solidFill>
            <a:srgbClr val="52B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6733" y="5724524"/>
            <a:ext cx="26669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76298" y="5724524"/>
            <a:ext cx="3562260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1A3A5F"/>
                </a:solidFill>
              </a:rPr>
              <a:t>Identify </a:t>
            </a:r>
            <a:r>
              <a:rPr sz="1196" b="1">
                <a:solidFill>
                  <a:srgbClr val="52B788"/>
                </a:solidFill>
              </a:rPr>
              <a:t>key differentiators</a:t>
            </a:r>
            <a:r>
              <a:rPr sz="1196" b="0">
                <a:solidFill>
                  <a:srgbClr val="1A3A5F"/>
                </a:solidFill>
              </a:rPr>
              <a:t> between regions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66733" y="6134100"/>
            <a:ext cx="266693" cy="266699"/>
          </a:xfrm>
          <a:prstGeom prst="roundRect">
            <a:avLst>
              <a:gd name="adj" fmla="val 50000"/>
            </a:avLst>
          </a:prstGeom>
          <a:solidFill>
            <a:srgbClr val="52B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66733" y="6134100"/>
            <a:ext cx="26669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76298" y="6134100"/>
            <a:ext cx="326699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1A3A5F"/>
                </a:solidFill>
              </a:rPr>
              <a:t>Develop </a:t>
            </a:r>
            <a:r>
              <a:rPr sz="1196" b="1">
                <a:solidFill>
                  <a:srgbClr val="52B788"/>
                </a:solidFill>
              </a:rPr>
              <a:t>pilot program</a:t>
            </a:r>
            <a:r>
              <a:rPr sz="1196" b="0">
                <a:solidFill>
                  <a:srgbClr val="1A3A5F"/>
                </a:solidFill>
              </a:rPr>
              <a:t> for Central region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66733" y="6543675"/>
            <a:ext cx="266693" cy="266699"/>
          </a:xfrm>
          <a:prstGeom prst="roundRect">
            <a:avLst>
              <a:gd name="adj" fmla="val 50000"/>
            </a:avLst>
          </a:prstGeom>
          <a:solidFill>
            <a:srgbClr val="52B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66733" y="6543675"/>
            <a:ext cx="26669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76298" y="6543675"/>
            <a:ext cx="386705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1A3A5F"/>
                </a:solidFill>
              </a:rPr>
              <a:t>Implement </a:t>
            </a:r>
            <a:r>
              <a:rPr sz="1196" b="1">
                <a:solidFill>
                  <a:srgbClr val="52B788"/>
                </a:solidFill>
              </a:rPr>
              <a:t>monitoring system</a:t>
            </a:r>
            <a:r>
              <a:rPr sz="1196" b="0">
                <a:solidFill>
                  <a:srgbClr val="1A3A5F"/>
                </a:solidFill>
              </a:rPr>
              <a:t> to track progress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286342" y="1143000"/>
            <a:ext cx="5238619" cy="3448049"/>
          </a:xfrm>
          <a:prstGeom prst="roundRect">
            <a:avLst>
              <a:gd name="adj" fmla="val 4419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524461" y="1381124"/>
            <a:ext cx="4762380" cy="2952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1300"/>
              </a:spcAft>
            </a:pPr>
            <a:r>
              <a:rPr sz="1435" b="1">
                <a:solidFill>
                  <a:srgbClr val="1A3A5F"/>
                </a:solidFill>
              </a:rPr>
              <a:t>West vs. Central: Key Differences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286342" y="4876800"/>
            <a:ext cx="5238619" cy="2076449"/>
          </a:xfrm>
          <a:prstGeom prst="roundRect">
            <a:avLst>
              <a:gd name="adj" fmla="val 7339"/>
            </a:avLst>
          </a:prstGeom>
          <a:solidFill>
            <a:srgbClr val="1A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524461" y="5114925"/>
            <a:ext cx="4762380" cy="2952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1300"/>
              </a:spcAft>
            </a:pPr>
            <a:r>
              <a:rPr sz="1435" b="1">
                <a:solidFill>
                  <a:srgbClr val="FFFFFF"/>
                </a:solidFill>
              </a:rPr>
              <a:t> </a:t>
            </a:r>
            <a:r>
              <a:rPr sz="1104"/>
              <a:t>  </a:t>
            </a:r>
            <a:r>
              <a:rPr sz="1435" b="1">
                <a:solidFill>
                  <a:srgbClr val="FFFFFF"/>
                </a:solidFill>
              </a:rPr>
              <a:t> Expected Impact </a:t>
            </a:r>
          </a:p>
        </p:txBody>
      </p:sp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6524461" y="5194852"/>
            <a:ext cx="266693" cy="144945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6524461" y="5600700"/>
            <a:ext cx="2381190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650"/>
              </a:spcAft>
            </a:pPr>
            <a:r>
              <a:rPr sz="2870" b="1">
                <a:solidFill>
                  <a:srgbClr val="52B788"/>
                </a:solidFill>
              </a:rPr>
              <a:t>+45%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24461" y="6267449"/>
            <a:ext cx="2381190" cy="447675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ctr">
              <a:lnSpc>
                <a:spcPts val="149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</a:rPr>
              <a:t>Potential profit increase in Central region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905652" y="5600700"/>
            <a:ext cx="2381190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650"/>
              </a:spcAft>
            </a:pPr>
            <a:r>
              <a:rPr sz="2870" b="1">
                <a:solidFill>
                  <a:srgbClr val="52B788"/>
                </a:solidFill>
              </a:rPr>
              <a:t>6 mo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905652" y="6267449"/>
            <a:ext cx="2381190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49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</a:rPr>
              <a:t>Timeline for initial results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6733" y="380999"/>
            <a:ext cx="10858228" cy="4762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2392" b="1">
                <a:solidFill>
                  <a:srgbClr val="1A3A5F"/>
                </a:solidFill>
              </a:rPr>
              <a:t>The Future: Predictive Power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66733" y="2495550"/>
            <a:ext cx="5238619" cy="1952624"/>
          </a:xfrm>
          <a:prstGeom prst="roundRect">
            <a:avLst>
              <a:gd name="adj" fmla="val 3902"/>
            </a:avLst>
          </a:prstGeom>
          <a:solidFill>
            <a:srgbClr val="52B788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 Same Side Corner Rectangle 3"/>
          <p:cNvSpPr/>
          <p:nvPr/>
        </p:nvSpPr>
        <p:spPr>
          <a:xfrm rot="16200000">
            <a:off x="-227029" y="3389312"/>
            <a:ext cx="1952624" cy="1651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52B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52476" y="2733674"/>
            <a:ext cx="4714757" cy="2952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975"/>
              </a:spcAft>
            </a:pPr>
            <a:r>
              <a:rPr sz="1435" b="1">
                <a:solidFill>
                  <a:srgbClr val="1A3A5F"/>
                </a:solidFill>
              </a:rPr>
              <a:t>Key Insight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52476" y="3171825"/>
            <a:ext cx="4714757" cy="1038224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674" b="1">
                <a:solidFill>
                  <a:srgbClr val="1A3A5F"/>
                </a:solidFill>
              </a:rPr>
              <a:t>We've built a model to predict profit, allowing us to stop losses before they happen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6733" y="4924424"/>
            <a:ext cx="476238" cy="476249"/>
          </a:xfrm>
          <a:prstGeom prst="roundRect">
            <a:avLst>
              <a:gd name="adj" fmla="val 50000"/>
            </a:avLst>
          </a:prstGeom>
          <a:solidFill>
            <a:srgbClr val="52B788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771505" y="5048042"/>
            <a:ext cx="266693" cy="22901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333466" y="5029200"/>
            <a:ext cx="3962300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1A3A5F"/>
                </a:solidFill>
              </a:rPr>
              <a:t> </a:t>
            </a:r>
            <a:r>
              <a:rPr sz="1196" b="1">
                <a:solidFill>
                  <a:srgbClr val="52B788"/>
                </a:solidFill>
              </a:rPr>
              <a:t>Random Forest</a:t>
            </a:r>
            <a:r>
              <a:rPr sz="1196" b="0">
                <a:solidFill>
                  <a:srgbClr val="1A3A5F"/>
                </a:solidFill>
              </a:rPr>
              <a:t> algorithm trained on 9,994 orders 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6733" y="5591175"/>
            <a:ext cx="476238" cy="476249"/>
          </a:xfrm>
          <a:prstGeom prst="roundRect">
            <a:avLst>
              <a:gd name="adj" fmla="val 50000"/>
            </a:avLst>
          </a:prstGeom>
          <a:solidFill>
            <a:srgbClr val="52B788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771505" y="5724939"/>
            <a:ext cx="266693" cy="208721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333466" y="5695949"/>
            <a:ext cx="3505112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1A3A5F"/>
                </a:solidFill>
              </a:rPr>
              <a:t> Model achieves </a:t>
            </a:r>
            <a:r>
              <a:rPr sz="1196" b="1">
                <a:solidFill>
                  <a:srgbClr val="52B788"/>
                </a:solidFill>
              </a:rPr>
              <a:t>R² score of 0.85</a:t>
            </a:r>
            <a:r>
              <a:rPr sz="1196" b="0">
                <a:solidFill>
                  <a:srgbClr val="1A3A5F"/>
                </a:solidFill>
              </a:rPr>
              <a:t> on test data 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66733" y="6257925"/>
            <a:ext cx="476238" cy="476249"/>
          </a:xfrm>
          <a:prstGeom prst="roundRect">
            <a:avLst>
              <a:gd name="adj" fmla="val 50000"/>
            </a:avLst>
          </a:prstGeom>
          <a:solidFill>
            <a:srgbClr val="52B788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771505" y="6396037"/>
            <a:ext cx="266693" cy="200025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333466" y="6362700"/>
            <a:ext cx="3476538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1A3A5F"/>
                </a:solidFill>
              </a:rPr>
              <a:t> Identifies </a:t>
            </a:r>
            <a:r>
              <a:rPr sz="1196" b="1">
                <a:solidFill>
                  <a:srgbClr val="52B788"/>
                </a:solidFill>
              </a:rPr>
              <a:t>key profit drivers</a:t>
            </a:r>
            <a:r>
              <a:rPr sz="1196" b="0">
                <a:solidFill>
                  <a:srgbClr val="1A3A5F"/>
                </a:solidFill>
              </a:rPr>
              <a:t> and risk factors 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86342" y="1143000"/>
            <a:ext cx="5238619" cy="4657725"/>
          </a:xfrm>
          <a:prstGeom prst="roundRect">
            <a:avLst>
              <a:gd name="adj" fmla="val 3271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29314" y="1381124"/>
            <a:ext cx="2952676" cy="2952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1300"/>
              </a:spcAft>
            </a:pPr>
            <a:r>
              <a:rPr sz="1435" b="1">
                <a:solidFill>
                  <a:srgbClr val="1A3A5F"/>
                </a:solidFill>
              </a:rPr>
              <a:t>Predictive Model Performance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695907" y="1866899"/>
            <a:ext cx="4419489" cy="2667000"/>
          </a:xfrm>
          <a:prstGeom prst="roundRect">
            <a:avLst/>
          </a:prstGeom>
          <a:blipFill>
            <a:blip r:embed="rId5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86402" y="4724399"/>
            <a:ext cx="876278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325"/>
              </a:spcAft>
            </a:pPr>
            <a:r>
              <a:rPr sz="2870" b="1">
                <a:solidFill>
                  <a:srgbClr val="52B788"/>
                </a:solidFill>
              </a:rPr>
              <a:t>85%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86402" y="5343525"/>
            <a:ext cx="876278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1A3A5F"/>
                </a:solidFill>
              </a:rPr>
              <a:t>Accuracy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77038" y="4724399"/>
            <a:ext cx="876278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325"/>
              </a:spcAft>
            </a:pPr>
            <a:r>
              <a:rPr sz="2870" b="1">
                <a:solidFill>
                  <a:srgbClr val="52B788"/>
                </a:solidFill>
              </a:rPr>
              <a:t>92%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77038" y="5343525"/>
            <a:ext cx="876278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1A3A5F"/>
                </a:solidFill>
              </a:rPr>
              <a:t>Precision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67673" y="4724399"/>
            <a:ext cx="857228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325"/>
              </a:spcAft>
            </a:pPr>
            <a:r>
              <a:rPr sz="2870" b="1">
                <a:solidFill>
                  <a:srgbClr val="52B788"/>
                </a:solidFill>
              </a:rPr>
              <a:t>0.85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67673" y="5343525"/>
            <a:ext cx="857228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1A3A5F"/>
                </a:solidFill>
              </a:rPr>
              <a:t>R² Score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86342" y="6086475"/>
            <a:ext cx="5238619" cy="2190749"/>
          </a:xfrm>
          <a:prstGeom prst="roundRect">
            <a:avLst>
              <a:gd name="adj" fmla="val 6956"/>
            </a:avLst>
          </a:prstGeom>
          <a:solidFill>
            <a:srgbClr val="1A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24461" y="6324599"/>
            <a:ext cx="4762380" cy="2952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1300"/>
              </a:spcAft>
            </a:pPr>
            <a:r>
              <a:rPr sz="1435" b="1">
                <a:solidFill>
                  <a:srgbClr val="FFFFFF"/>
                </a:solidFill>
              </a:rPr>
              <a:t> </a:t>
            </a:r>
            <a:r>
              <a:rPr sz="1104"/>
              <a:t>  </a:t>
            </a:r>
            <a:r>
              <a:rPr sz="1435" b="1">
                <a:solidFill>
                  <a:srgbClr val="FFFFFF"/>
                </a:solidFill>
              </a:rPr>
              <a:t> Business Applications </a:t>
            </a:r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6524461" y="6363942"/>
            <a:ext cx="266693" cy="226115"/>
          </a:xfrm>
          <a:prstGeom prst="rect">
            <a:avLst/>
          </a:prstGeom>
        </p:spPr>
      </p:pic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6524461" y="6827519"/>
            <a:ext cx="228594" cy="194309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6895927" y="6810374"/>
            <a:ext cx="4086122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FFFFFF"/>
                </a:solidFill>
              </a:rPr>
              <a:t>Flag potentially unprofitable orders before shipping</a:t>
            </a:r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6524461" y="7237095"/>
            <a:ext cx="228594" cy="194309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6895927" y="7219950"/>
            <a:ext cx="3695607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FFFFFF"/>
                </a:solidFill>
              </a:rPr>
              <a:t>Optimize pricing strategies for maximum profit</a:t>
            </a:r>
          </a:p>
        </p:txBody>
      </p:sp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6524461" y="7646669"/>
            <a:ext cx="228594" cy="194309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6895927" y="7629525"/>
            <a:ext cx="4171845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FFFFFF"/>
                </a:solidFill>
              </a:rPr>
              <a:t>Identify high-value customers for targeted marketing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6733" y="380999"/>
            <a:ext cx="10858228" cy="4762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2392" b="1">
                <a:solidFill>
                  <a:srgbClr val="1A3A5F"/>
                </a:solidFill>
              </a:rPr>
              <a:t>Summary &amp; Next Steps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66733" y="1143000"/>
            <a:ext cx="10858228" cy="1257300"/>
          </a:xfrm>
          <a:prstGeom prst="roundRect">
            <a:avLst>
              <a:gd name="adj" fmla="val 6060"/>
            </a:avLst>
          </a:prstGeom>
          <a:solidFill>
            <a:srgbClr val="52B788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 Same Side Corner Rectangle 3"/>
          <p:cNvSpPr/>
          <p:nvPr/>
        </p:nvSpPr>
        <p:spPr>
          <a:xfrm rot="16200000">
            <a:off x="120633" y="1689100"/>
            <a:ext cx="1257300" cy="1651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52B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52476" y="1381124"/>
            <a:ext cx="10334366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975"/>
              </a:spcAft>
            </a:pPr>
            <a:r>
              <a:rPr sz="1674" b="1">
                <a:solidFill>
                  <a:srgbClr val="1A3A5F"/>
                </a:solidFill>
              </a:rPr>
              <a:t>Our Recommendation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52476" y="1866899"/>
            <a:ext cx="10334366" cy="2952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1A3A5F"/>
                </a:solidFill>
              </a:rPr>
              <a:t>Approve these three initiatives to immediately improve profitability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6733" y="2686050"/>
            <a:ext cx="3457488" cy="2743200"/>
          </a:xfrm>
          <a:prstGeom prst="roundRect">
            <a:avLst>
              <a:gd name="adj" fmla="val 5555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67033" y="2828925"/>
            <a:ext cx="323841" cy="609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4160"/>
              </a:lnSpc>
              <a:spcBef>
                <a:spcPts val="0"/>
              </a:spcBef>
              <a:spcAft>
                <a:spcPts val="0"/>
              </a:spcAft>
            </a:pPr>
            <a:r>
              <a:rPr sz="3827" b="1">
                <a:solidFill>
                  <a:srgbClr val="52B788"/>
                </a:solidFill>
              </a:rPr>
              <a:t>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04852" y="2924175"/>
            <a:ext cx="571485" cy="571500"/>
          </a:xfrm>
          <a:prstGeom prst="roundRect">
            <a:avLst>
              <a:gd name="adj" fmla="val 50000"/>
            </a:avLst>
          </a:prstGeom>
          <a:solidFill>
            <a:srgbClr val="52B788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1038199" y="3101486"/>
            <a:ext cx="304792" cy="21687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4852" y="3686175"/>
            <a:ext cx="2981250" cy="2952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975"/>
              </a:spcAft>
            </a:pPr>
            <a:r>
              <a:rPr sz="1435" b="1">
                <a:solidFill>
                  <a:srgbClr val="1A3A5F"/>
                </a:solidFill>
              </a:rPr>
              <a:t>Cap Discounts at 20%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4852" y="4124324"/>
            <a:ext cx="2981250" cy="5333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495057"/>
                </a:solidFill>
              </a:rPr>
              <a:t>Implement company-wide policy limiting discounts to </a:t>
            </a:r>
            <a:r>
              <a:rPr sz="1196" b="1">
                <a:solidFill>
                  <a:srgbClr val="52B788"/>
                </a:solidFill>
              </a:rPr>
              <a:t>maximum 20%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4852" y="4657725"/>
            <a:ext cx="2981250" cy="5333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495057"/>
                </a:solidFill>
              </a:rPr>
              <a:t>Train sales team on </a:t>
            </a:r>
            <a:r>
              <a:rPr sz="1196" b="1">
                <a:solidFill>
                  <a:srgbClr val="52B788"/>
                </a:solidFill>
              </a:rPr>
              <a:t>value-based selling</a:t>
            </a:r>
            <a:r>
              <a:rPr sz="1196" b="0">
                <a:solidFill>
                  <a:srgbClr val="495057"/>
                </a:solidFill>
              </a:rPr>
              <a:t> techniques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62340" y="2686050"/>
            <a:ext cx="3457488" cy="2743200"/>
          </a:xfrm>
          <a:prstGeom prst="roundRect">
            <a:avLst>
              <a:gd name="adj" fmla="val 5555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62640" y="2828925"/>
            <a:ext cx="323841" cy="609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4160"/>
              </a:lnSpc>
              <a:spcBef>
                <a:spcPts val="0"/>
              </a:spcBef>
              <a:spcAft>
                <a:spcPts val="0"/>
              </a:spcAft>
            </a:pPr>
            <a:r>
              <a:rPr sz="3827" b="1">
                <a:solidFill>
                  <a:srgbClr val="52B788"/>
                </a:solidFill>
              </a:rPr>
              <a:t>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600459" y="2924175"/>
            <a:ext cx="571485" cy="571500"/>
          </a:xfrm>
          <a:prstGeom prst="roundRect">
            <a:avLst>
              <a:gd name="adj" fmla="val 50000"/>
            </a:avLst>
          </a:prstGeom>
          <a:solidFill>
            <a:srgbClr val="52B788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4733806" y="3080971"/>
            <a:ext cx="304792" cy="257907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4600459" y="3686175"/>
            <a:ext cx="2981250" cy="2952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975"/>
              </a:spcAft>
            </a:pPr>
            <a:r>
              <a:rPr sz="1435" b="1">
                <a:solidFill>
                  <a:srgbClr val="1A3A5F"/>
                </a:solidFill>
              </a:rPr>
              <a:t>Optimize Product Strategy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00459" y="4124324"/>
            <a:ext cx="2981250" cy="5333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52B788"/>
                </a:solidFill>
              </a:rPr>
              <a:t>Promote Technology</a:t>
            </a:r>
            <a:r>
              <a:rPr sz="1196" b="0">
                <a:solidFill>
                  <a:srgbClr val="495057"/>
                </a:solidFill>
              </a:rPr>
              <a:t> products with increased marketing spend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00459" y="4657725"/>
            <a:ext cx="2981250" cy="5333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52B788"/>
                </a:solidFill>
              </a:rPr>
              <a:t>Investigate Tables</a:t>
            </a:r>
            <a:r>
              <a:rPr sz="1196" b="0">
                <a:solidFill>
                  <a:srgbClr val="495057"/>
                </a:solidFill>
              </a:rPr>
              <a:t> sub-category to understand losses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67473" y="2686050"/>
            <a:ext cx="3457488" cy="2743200"/>
          </a:xfrm>
          <a:prstGeom prst="roundRect">
            <a:avLst>
              <a:gd name="adj" fmla="val 5555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058248" y="2828925"/>
            <a:ext cx="323841" cy="609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4160"/>
              </a:lnSpc>
              <a:spcBef>
                <a:spcPts val="0"/>
              </a:spcBef>
              <a:spcAft>
                <a:spcPts val="0"/>
              </a:spcAft>
            </a:pPr>
            <a:r>
              <a:rPr sz="3827" b="1">
                <a:solidFill>
                  <a:srgbClr val="52B788"/>
                </a:solidFill>
              </a:rPr>
              <a:t>3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305592" y="2924175"/>
            <a:ext cx="571485" cy="571500"/>
          </a:xfrm>
          <a:prstGeom prst="roundRect">
            <a:avLst>
              <a:gd name="adj" fmla="val 50000"/>
            </a:avLst>
          </a:prstGeom>
          <a:solidFill>
            <a:srgbClr val="52B788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8438939" y="3080971"/>
            <a:ext cx="304792" cy="257907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8305592" y="3686175"/>
            <a:ext cx="2981250" cy="2952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975"/>
              </a:spcAft>
            </a:pPr>
            <a:r>
              <a:rPr sz="1435" b="1">
                <a:solidFill>
                  <a:srgbClr val="1A3A5F"/>
                </a:solidFill>
              </a:rPr>
              <a:t>Replicate Regional Success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05592" y="4124324"/>
            <a:ext cx="2981250" cy="5333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495057"/>
                </a:solidFill>
              </a:rPr>
              <a:t>Form </a:t>
            </a:r>
            <a:r>
              <a:rPr sz="1196" b="1">
                <a:solidFill>
                  <a:srgbClr val="52B788"/>
                </a:solidFill>
              </a:rPr>
              <a:t>task force</a:t>
            </a:r>
            <a:r>
              <a:rPr sz="1196" b="0">
                <a:solidFill>
                  <a:srgbClr val="495057"/>
                </a:solidFill>
              </a:rPr>
              <a:t> to analyze West region strategies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05592" y="4657725"/>
            <a:ext cx="2981250" cy="5333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495057"/>
                </a:solidFill>
              </a:rPr>
              <a:t>Implement </a:t>
            </a:r>
            <a:r>
              <a:rPr sz="1196" b="1">
                <a:solidFill>
                  <a:srgbClr val="52B788"/>
                </a:solidFill>
              </a:rPr>
              <a:t>pilot program</a:t>
            </a:r>
            <a:r>
              <a:rPr sz="1196" b="0">
                <a:solidFill>
                  <a:srgbClr val="495057"/>
                </a:solidFill>
              </a:rPr>
              <a:t> in Central region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66733" y="5810249"/>
            <a:ext cx="10858228" cy="1209674"/>
          </a:xfrm>
          <a:prstGeom prst="roundRect">
            <a:avLst>
              <a:gd name="adj" fmla="val 12598"/>
            </a:avLst>
          </a:prstGeom>
          <a:solidFill>
            <a:srgbClr val="1A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904852" y="6134100"/>
            <a:ext cx="571485" cy="571500"/>
          </a:xfrm>
          <a:prstGeom prst="roundRect">
            <a:avLst>
              <a:gd name="adj" fmla="val 50000"/>
            </a:avLst>
          </a:prstGeom>
          <a:solidFill>
            <a:srgbClr val="FFFFFF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1038199" y="6337788"/>
            <a:ext cx="304792" cy="164123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1714457" y="6048375"/>
            <a:ext cx="6886402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1674" b="1">
                <a:solidFill>
                  <a:srgbClr val="FFFFFF"/>
                </a:solidFill>
              </a:rPr>
              <a:t>Expected Impact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714457" y="6486525"/>
            <a:ext cx="6886402" cy="2952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315" b="0">
                <a:solidFill>
                  <a:srgbClr val="FFFFFF"/>
                </a:solidFill>
              </a:rPr>
              <a:t>These initiatives can increase overall profitability by up to 35% within 6 months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886602" y="6134100"/>
            <a:ext cx="1114397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70" b="1">
                <a:solidFill>
                  <a:srgbClr val="52B788"/>
                </a:solidFill>
              </a:rPr>
              <a:t>+35%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143871" y="6191250"/>
            <a:ext cx="1142971" cy="447675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49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</a:rPr>
              <a:t>Profitability increase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